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86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86F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DC-01</c:v>
                  </c:pt>
                  <c:pt idx="1">
                    <c:v>SRV-WEB</c:v>
                  </c:pt>
                  <c:pt idx="2">
                    <c:v>NAS-BACKUP</c:v>
                  </c:pt>
                  <c:pt idx="3">
                    <c:v>SRV-DB</c:v>
                  </c:pt>
                  <c:pt idx="4">
                    <c:v>PC-BOB</c:v>
                  </c:pt>
                  <c:pt idx="5">
                    <c:v>PC-ALICE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19</c:v>
                </c:pt>
                <c:pt idx="2">
                  <c:v>17.5</c:v>
                </c:pt>
                <c:pt idx="3">
                  <c:v>14.5</c:v>
                </c:pt>
                <c:pt idx="4">
                  <c:v>13.8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B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1 min. Contexte : SI de CyberCorp modelise dans Neo4j. PC-ALICE compromise par phishing. Question : quels chemins vers les ressources critiques. Interet du graphe : un chemin d'attaque EST un chemin dans le graphe, ce qu'un tableur ne montre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30. 6 types de noeuds, 8 types de relations : qui utilise/administre quelle machine, machines connectees, services exposes, vulnerabilites, ressources hebergees. 31 noeuds / 47 relations. Proprietes enrichies pour l'analyse.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PC-ALICE partagee par alice/eve/diana = risque. Plus court chemin vers DC-01 = 3 sauts via SRV-DB (machine pivot). MAIS le plus dangereux = rebond credentials : PC-BOB porte la session admin de charlie (ADMIN_OF DC-01/SRV-DB/NAS) + BlueKeep -&gt; compromission du domaine en 1 saut reseau.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- demo live. Lancer A2 (plus court chemin), A5 (ressources), B2 (scoring). Toutes les requetes sont dans cypher/05 et 06. Insister : 3 sauts, 5 ressources critiques accessibles, scoring qui priorise les correctifs.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30. Scoring : DC-01, SRV-WEB, NAS-BACKUP en tete. Vulns critiques non patchees. Droits : DEV -&gt; SRV-DB trop large, un seul compte admin. Surface : SRV-WEB Internet, MongoDB, RDP.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5 recommandations prioritaires. Conclusion : tout est atteignable depuis PC-ALICE. Deux causes racines : segmentation + droits. Neo4j = visualisation + priorisation. Fin, place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495044"/>
            <a:ext cx="1156716" cy="-736092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1495044"/>
            <a:ext cx="1051560" cy="841248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00716" y="758952"/>
            <a:ext cx="1156716" cy="841248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2336292"/>
            <a:ext cx="1261872" cy="-736092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57432" y="1600200"/>
            <a:ext cx="210312" cy="1261872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43416" y="1394460"/>
            <a:ext cx="201168" cy="20116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00132" y="658368"/>
            <a:ext cx="201168" cy="201168"/>
          </a:xfrm>
          <a:prstGeom prst="ellipse">
            <a:avLst/>
          </a:prstGeom>
          <a:solidFill>
            <a:srgbClr val="9D4EDD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94976" y="2235708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56848" y="1499616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67160" y="2761488"/>
            <a:ext cx="201168" cy="20116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YNOV B3  ·  PROJET NOSQL  ·  NEO4J / CYPHER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CyberCorp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d'un système d'information &amp;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chemins d'attaque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4434840"/>
            <a:ext cx="8778240" cy="1371600"/>
          </a:xfrm>
          <a:prstGeom prst="roundRect">
            <a:avLst>
              <a:gd name="adj" fmla="val 6667"/>
            </a:avLst>
          </a:prstGeom>
          <a:solidFill>
            <a:srgbClr val="16293E"/>
          </a:solidFill>
          <a:ln w="12700">
            <a:solidFill>
              <a:srgbClr val="2440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57200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spc="2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À partir d'une machine compromise (PC-ALICE), quels sont les chemins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possibles vers les ressources critiques de l'entreprise ? 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1 — 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de graphe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0992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514600" y="17099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358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14600" y="303580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3616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514600" y="436168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nœuds / relations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de nœuds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12080" y="1965960"/>
            <a:ext cx="310896" cy="310896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15" name="Text 13"/>
          <p:cNvSpPr/>
          <p:nvPr/>
        </p:nvSpPr>
        <p:spPr>
          <a:xfrm>
            <a:off x="5614416" y="19293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1965960"/>
            <a:ext cx="310896" cy="3108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7" name="Text 15"/>
          <p:cNvSpPr/>
          <p:nvPr/>
        </p:nvSpPr>
        <p:spPr>
          <a:xfrm>
            <a:off x="7854696" y="19293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92640" y="1965960"/>
            <a:ext cx="310896" cy="310896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94976" y="19293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2532888"/>
            <a:ext cx="310896" cy="3108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5614416" y="2496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52360" y="2532888"/>
            <a:ext cx="310896" cy="310896"/>
          </a:xfrm>
          <a:prstGeom prst="ellipse">
            <a:avLst/>
          </a:prstGeom>
          <a:solidFill>
            <a:srgbClr val="B79B72"/>
          </a:solidFill>
          <a:ln/>
        </p:spPr>
      </p:sp>
      <p:sp>
        <p:nvSpPr>
          <p:cNvPr id="23" name="Text 21"/>
          <p:cNvSpPr/>
          <p:nvPr/>
        </p:nvSpPr>
        <p:spPr>
          <a:xfrm>
            <a:off x="7854696" y="2496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92640" y="2532888"/>
            <a:ext cx="310896" cy="310896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10094976" y="2496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types de relations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2080" y="379476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6EDF4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58200" y="379476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6EDF4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MEMBER_OF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12080" y="43616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6EDF4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43616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ADMIN_OF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58200" y="43616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6EDF4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43616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HAS_ACCESS_TO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212080" y="4928616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6EDF4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49286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CONNECTED_TO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58200" y="4928616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6EDF4"/>
          </a:solidFill>
          <a:ln/>
        </p:spPr>
      </p:sp>
      <p:sp>
        <p:nvSpPr>
          <p:cNvPr id="38" name="Text 36"/>
          <p:cNvSpPr/>
          <p:nvPr/>
        </p:nvSpPr>
        <p:spPr>
          <a:xfrm>
            <a:off x="8595360" y="49286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12080" y="5495544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6EDF4"/>
          </a:solidFill>
          <a:ln/>
        </p:spPr>
      </p:sp>
      <p:sp>
        <p:nvSpPr>
          <p:cNvPr id="40" name="Text 38"/>
          <p:cNvSpPr/>
          <p:nvPr/>
        </p:nvSpPr>
        <p:spPr>
          <a:xfrm>
            <a:off x="5349240" y="54955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HAS_VULNERABILITY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458200" y="5495544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6EDF4"/>
          </a:solidFill>
          <a:ln/>
        </p:spPr>
      </p:sp>
      <p:sp>
        <p:nvSpPr>
          <p:cNvPr id="42" name="Text 40"/>
          <p:cNvSpPr/>
          <p:nvPr/>
        </p:nvSpPr>
        <p:spPr>
          <a:xfrm>
            <a:off x="8595360" y="54955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Enrichissements (bonus) : exposition Internet · statut de correction des vulnérabilités · niveau de privilège des comptes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3 — SCÉNARIO D'ATTAQUE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phishing au contrôleur de domaine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3419856"/>
            <a:ext cx="2971800" cy="-1188720"/>
          </a:xfrm>
          <a:prstGeom prst="line">
            <a:avLst/>
          </a:prstGeom>
          <a:noFill/>
          <a:ln w="19050">
            <a:solidFill>
              <a:srgbClr val="3E5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419856"/>
            <a:ext cx="2971800" cy="1188720"/>
          </a:xfrm>
          <a:prstGeom prst="line">
            <a:avLst/>
          </a:prstGeom>
          <a:noFill/>
          <a:ln w="19050">
            <a:solidFill>
              <a:srgbClr val="3E56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0" y="2231136"/>
            <a:ext cx="2971800" cy="1188720"/>
          </a:xfrm>
          <a:prstGeom prst="line">
            <a:avLst/>
          </a:prstGeom>
          <a:noFill/>
          <a:ln w="19050">
            <a:solidFill>
              <a:srgbClr val="3E56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4608576"/>
            <a:ext cx="2971800" cy="-1188720"/>
          </a:xfrm>
          <a:prstGeom prst="line">
            <a:avLst/>
          </a:prstGeom>
          <a:noFill/>
          <a:ln w="19050">
            <a:solidFill>
              <a:srgbClr val="3E56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419856"/>
            <a:ext cx="2971800" cy="-1188720"/>
          </a:xfrm>
          <a:prstGeom prst="line">
            <a:avLst/>
          </a:prstGeom>
          <a:noFill/>
          <a:ln w="19050">
            <a:solidFill>
              <a:srgbClr val="3E56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3419856"/>
            <a:ext cx="2971800" cy="1188720"/>
          </a:xfrm>
          <a:prstGeom prst="line">
            <a:avLst/>
          </a:prstGeom>
          <a:noFill/>
          <a:ln w="19050">
            <a:solidFill>
              <a:srgbClr val="3E5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87000" y="2231136"/>
            <a:ext cx="0" cy="2377440"/>
          </a:xfrm>
          <a:prstGeom prst="line">
            <a:avLst/>
          </a:prstGeom>
          <a:noFill/>
          <a:ln w="19050">
            <a:solidFill>
              <a:srgbClr val="3E56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3419856"/>
            <a:ext cx="2971800" cy="-1188720"/>
          </a:xfrm>
          <a:prstGeom prst="line">
            <a:avLst/>
          </a:prstGeom>
          <a:noFill/>
          <a:ln w="5080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231136"/>
            <a:ext cx="2971800" cy="1188720"/>
          </a:xfrm>
          <a:prstGeom prst="line">
            <a:avLst/>
          </a:prstGeom>
          <a:noFill/>
          <a:ln w="508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3419856"/>
            <a:ext cx="2971800" cy="-1188720"/>
          </a:xfrm>
          <a:prstGeom prst="line">
            <a:avLst/>
          </a:prstGeom>
          <a:noFill/>
          <a:ln w="508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419856"/>
            <a:ext cx="2971800" cy="1188720"/>
          </a:xfrm>
          <a:prstGeom prst="line">
            <a:avLst/>
          </a:prstGeom>
          <a:noFill/>
          <a:ln w="38100">
            <a:solidFill>
              <a:srgbClr val="E6394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3A86FF"/>
          </a:solidFill>
          <a:ln w="19050">
            <a:solidFill>
              <a:srgbClr val="0E1B2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06324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PC-ALICE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11880" y="1874520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3A86FF"/>
          </a:solidFill>
          <a:ln w="19050">
            <a:solidFill>
              <a:srgbClr val="0E1B2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11880" y="192938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SRV-WEB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2276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Log4Shell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4251960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3A86FF"/>
          </a:solidFill>
          <a:ln w="19050">
            <a:solidFill>
              <a:srgbClr val="0E1B2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11880" y="43068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PC-BOB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11880" y="4654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BlueKeep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3063240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F4A261"/>
          </a:solidFill>
          <a:ln w="19050">
            <a:solidFill>
              <a:srgbClr val="0E1B2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306324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SRV-DB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55480" y="1874520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E63946"/>
          </a:solidFill>
          <a:ln w="19050">
            <a:solidFill>
              <a:srgbClr val="0E1B2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55480" y="192938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DC-01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55480" y="2276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Zerologon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55480" y="4251960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E63946"/>
          </a:solidFill>
          <a:ln w="19050">
            <a:solidFill>
              <a:srgbClr val="0E1B2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555480" y="42519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NAS-BACKUP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 (phishing)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6293E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53492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réseau le plus court  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PC-ALICE → SRV-WEB → SRV-DB → DC-01  =  3 sauts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52120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6293E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53492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Rebond par identifiants (le plus dangereux)  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PC-BOB héberge la session admin de charlie → vol des creds → DC-01 en 1 saut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faible/moy.   </a:t>
            </a:r>
            <a:pPr algn="r"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   </a:t>
            </a:r>
            <a:pPr algn="r"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2 —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Requêtes Cypher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court chemin vers DC-01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15200" cy="1078992"/>
          </a:xfrm>
          <a:prstGeom prst="roundRect">
            <a:avLst>
              <a:gd name="adj" fmla="val 5085"/>
            </a:avLst>
          </a:prstGeom>
          <a:solidFill>
            <a:srgbClr val="12233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p = shortestPath(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 {name:"PC-ALICE"})-[:CONNECTED_TO*1..6]-&gt;(b {name:"DC-01"}))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[n IN nodes(p) | n.name], length(p)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092440" y="1920240"/>
            <a:ext cx="3520440" cy="1078992"/>
          </a:xfrm>
          <a:prstGeom prst="roundRect">
            <a:avLst>
              <a:gd name="adj" fmla="val 5085"/>
            </a:avLst>
          </a:prstGeom>
          <a:solidFill>
            <a:srgbClr val="E3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0" y="1965960"/>
            <a:ext cx="3200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PC-ALICE → SRV-WEB → SRV-DB → DC-01   ·   3 sauts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182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atteignables depuis PC-ALICE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47872"/>
            <a:ext cx="7315200" cy="1078992"/>
          </a:xfrm>
          <a:prstGeom prst="roundRect">
            <a:avLst>
              <a:gd name="adj" fmla="val 5085"/>
            </a:avLst>
          </a:prstGeom>
          <a:solidFill>
            <a:srgbClr val="12233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593592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(s {name:"PC-ALICE"})-[:CONNECTED_TO*1..5]-&gt;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(m:Machine)-[:HOSTS]-&gt;(r:Resource)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DISTINCT r.name, r.sensitivity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3547872"/>
            <a:ext cx="3520440" cy="1078992"/>
          </a:xfrm>
          <a:prstGeom prst="roundRect">
            <a:avLst>
              <a:gd name="adj" fmla="val 5085"/>
            </a:avLst>
          </a:prstGeom>
          <a:solidFill>
            <a:srgbClr val="E3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3593592"/>
            <a:ext cx="3200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les 5 ressources sensibles sont atteignables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809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risque par machine (bonus)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75504"/>
            <a:ext cx="7315200" cy="1078992"/>
          </a:xfrm>
          <a:prstGeom prst="roundRect">
            <a:avLst>
              <a:gd name="adj" fmla="val 5085"/>
            </a:avLst>
          </a:prstGeom>
          <a:solidFill>
            <a:srgbClr val="12233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5221224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(m:Machine)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 MATCH (m)-[:HAS_VULNERABILITY]-&gt;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(v:Vulnerability {status:"unpatched"})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D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m.name, sum(v.score) + poids ...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5175504"/>
            <a:ext cx="3520440" cy="1078992"/>
          </a:xfrm>
          <a:prstGeom prst="roundRect">
            <a:avLst>
              <a:gd name="adj" fmla="val 5085"/>
            </a:avLst>
          </a:prstGeom>
          <a:solidFill>
            <a:srgbClr val="E3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5221224"/>
            <a:ext cx="3200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DC-01 (20)  &gt;  SRV-WEB (19)  &gt;  NAS-BACKUP (17.5)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Constats : risque, vulnérabilités, droits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risque par machine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828800"/>
            <a:ext cx="50292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12280" y="2075688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5"/>
          <p:cNvSpPr/>
          <p:nvPr/>
        </p:nvSpPr>
        <p:spPr>
          <a:xfrm>
            <a:off x="7223760" y="2011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critiques non corrigées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0" y="243230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Log4Shell (SRV-WEB, exposé Internet) · Zerologon (DC-01) · BlueKeep (PC-BOB) · mauvaise config SMB (NAS / SRV-DB)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0" y="3310128"/>
            <a:ext cx="50292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12280" y="3557016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9"/>
          <p:cNvSpPr/>
          <p:nvPr/>
        </p:nvSpPr>
        <p:spPr>
          <a:xfrm>
            <a:off x="7223760" y="34930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trop larges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58000" y="391363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DEV accède directement à SRV-DB · un seul compte admin couvre DC-01 + SRV-DB + NAS-BACKUP (pas de séparation des rôles)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583680" y="4791456"/>
            <a:ext cx="50292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12280" y="5038344"/>
            <a:ext cx="292608" cy="292608"/>
          </a:xfrm>
          <a:prstGeom prst="ellipse">
            <a:avLst/>
          </a:prstGeom>
          <a:solidFill>
            <a:srgbClr val="B79B72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49743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exposée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858000" y="53949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SRV-WEB ouvert sur Internet · MongoDB:27017 en interne · RDP:3389 sur le poste de dev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1115568"/>
            <a:ext cx="804672" cy="-512064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1115568"/>
            <a:ext cx="731520" cy="585216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37392" y="603504"/>
            <a:ext cx="804672" cy="585216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1700784"/>
            <a:ext cx="877824" cy="-512064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42064" y="1188720"/>
            <a:ext cx="146304" cy="877824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32136" y="1014984"/>
            <a:ext cx="201168" cy="201168"/>
          </a:xfrm>
          <a:prstGeom prst="ellipse">
            <a:avLst/>
          </a:prstGeom>
          <a:solidFill>
            <a:srgbClr val="16293E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6808" y="502920"/>
            <a:ext cx="201168" cy="201168"/>
          </a:xfrm>
          <a:prstGeom prst="ellipse">
            <a:avLst/>
          </a:prstGeom>
          <a:solidFill>
            <a:srgbClr val="16293E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63656" y="1600200"/>
            <a:ext cx="201168" cy="201168"/>
          </a:xfrm>
          <a:prstGeom prst="ellipse">
            <a:avLst/>
          </a:prstGeom>
          <a:solidFill>
            <a:srgbClr val="16293E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41480" y="1088136"/>
            <a:ext cx="201168" cy="201168"/>
          </a:xfrm>
          <a:prstGeom prst="ellipse">
            <a:avLst/>
          </a:prstGeom>
          <a:solidFill>
            <a:srgbClr val="16293E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87784" y="1965960"/>
            <a:ext cx="201168" cy="201168"/>
          </a:xfrm>
          <a:prstGeom prst="ellipse">
            <a:avLst/>
          </a:prstGeom>
          <a:solidFill>
            <a:srgbClr val="16293E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3 — SÉCURISATION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&amp; conclusion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5544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6293E"/>
          </a:solidFill>
          <a:ln w="12700">
            <a:solidFill>
              <a:srgbClr val="2440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773936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166420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les vulns critiques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Zerologon · Log4Shell · BlueKeep · SMB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15544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6293E"/>
          </a:solidFill>
          <a:ln w="12700">
            <a:solidFill>
              <a:srgbClr val="2440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773936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95160" y="166420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 le réseau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PC-BOB → SRV-DB · VLAN + pare-feu · bastion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2633472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6293E"/>
          </a:solidFill>
          <a:ln w="12700">
            <a:solidFill>
              <a:srgbClr val="2440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85292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27432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 privilège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l'accès DEV à SRV-DB · séparer les comptes admin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72200" y="2633472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6293E"/>
          </a:solidFill>
          <a:ln w="12700">
            <a:solidFill>
              <a:srgbClr val="2440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285292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95160" y="27432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session admin sur poste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d'admin dédiés (tiering AD / PAW)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3712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6293E"/>
          </a:solidFill>
          <a:ln w="12700">
            <a:solidFill>
              <a:srgbClr val="2440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3931920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71600" y="3822192"/>
            <a:ext cx="10104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&amp; supervision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 forte + détection du mouvement latéral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0302B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un simple poste compromis, l'attaquant atteint toutes les ressources critiques. Causes racines : segmentation insuffisante et droits trop concentrés. Neo4j rend ces chemins visibles et priorise les correctifs.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CyberCorp - Analyse des chemins d'attaque (Neo4j)</dc:title>
  <dc:subject>PptxGenJS Presentation</dc:subject>
  <dc:creator>YNOV B3 - Projet NoSQL</dc:creator>
  <cp:lastModifiedBy>YNOV B3 - Projet NoSQL</cp:lastModifiedBy>
  <cp:revision>1</cp:revision>
  <dcterms:created xsi:type="dcterms:W3CDTF">2026-06-24T09:30:18Z</dcterms:created>
  <dcterms:modified xsi:type="dcterms:W3CDTF">2026-06-24T09:30:18Z</dcterms:modified>
</cp:coreProperties>
</file>